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0" r:id="rId8"/>
    <p:sldId id="261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A9D47-4779-5B2F-9872-444AB84AF4AE}" v="2" dt="2026-05-15T22:54:55.648"/>
    <p1510:client id="{B9B23C12-2A8B-58DC-E680-0B50659173C7}" v="4" dt="2026-05-13T23:07:17.2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1622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ia Arroyo Bustamante" userId="S::nuria.arroyobe@udlap.mx::72cd0cd3-31c6-4c44-8bb8-abe99dbb34dc" providerId="AD" clId="Web-{B9B23C12-2A8B-58DC-E680-0B50659173C7}"/>
    <pc:docChg chg="addSld delSld">
      <pc:chgData name="Nuria Arroyo Bustamante" userId="S::nuria.arroyobe@udlap.mx::72cd0cd3-31c6-4c44-8bb8-abe99dbb34dc" providerId="AD" clId="Web-{B9B23C12-2A8B-58DC-E680-0B50659173C7}" dt="2026-05-13T23:07:17.232" v="3"/>
      <pc:docMkLst>
        <pc:docMk/>
      </pc:docMkLst>
    </pc:docChg>
  </pc:docChgLst>
  <pc:docChgLst>
    <pc:chgData name="Celeste Nunez Lopez" userId="S::celeste.nunezlz@udlap.mx::63d20282-9e97-4656-958a-28eff51d82b0" providerId="AD" clId="Web-{704A9D47-4779-5B2F-9872-444AB84AF4AE}"/>
    <pc:docChg chg="modSld">
      <pc:chgData name="Celeste Nunez Lopez" userId="S::celeste.nunezlz@udlap.mx::63d20282-9e97-4656-958a-28eff51d82b0" providerId="AD" clId="Web-{704A9D47-4779-5B2F-9872-444AB84AF4AE}" dt="2026-05-15T22:54:55.648" v="1" actId="1076"/>
      <pc:docMkLst>
        <pc:docMk/>
      </pc:docMkLst>
      <pc:sldChg chg="modSp">
        <pc:chgData name="Celeste Nunez Lopez" userId="S::celeste.nunezlz@udlap.mx::63d20282-9e97-4656-958a-28eff51d82b0" providerId="AD" clId="Web-{704A9D47-4779-5B2F-9872-444AB84AF4AE}" dt="2026-05-15T22:54:55.648" v="1" actId="1076"/>
        <pc:sldMkLst>
          <pc:docMk/>
          <pc:sldMk cId="1152843984" sldId="258"/>
        </pc:sldMkLst>
        <pc:spChg chg="mod">
          <ac:chgData name="Celeste Nunez Lopez" userId="S::celeste.nunezlz@udlap.mx::63d20282-9e97-4656-958a-28eff51d82b0" providerId="AD" clId="Web-{704A9D47-4779-5B2F-9872-444AB84AF4AE}" dt="2026-05-15T22:54:55.648" v="1" actId="1076"/>
          <ac:spMkLst>
            <pc:docMk/>
            <pc:sldMk cId="1152843984" sldId="258"/>
            <ac:spMk id="2" creationId="{068256D3-8078-2278-E3A6-DE107E3FE7C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E4F1-5955-4EC6-8F55-AC9D1ED0A672}" type="datetimeFigureOut">
              <a:rPr lang="es-MX" smtClean="0"/>
              <a:t>15/05/2026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B6835-818E-4954-A82C-21DE6168C3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812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E4F1-5955-4EC6-8F55-AC9D1ED0A672}" type="datetimeFigureOut">
              <a:rPr lang="es-MX" smtClean="0"/>
              <a:t>15/05/2026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B6835-818E-4954-A82C-21DE6168C3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4292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E4F1-5955-4EC6-8F55-AC9D1ED0A672}" type="datetimeFigureOut">
              <a:rPr lang="es-MX" smtClean="0"/>
              <a:t>15/05/2026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B6835-818E-4954-A82C-21DE6168C3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6342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E4F1-5955-4EC6-8F55-AC9D1ED0A672}" type="datetimeFigureOut">
              <a:rPr lang="es-MX" smtClean="0"/>
              <a:t>15/05/2026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B6835-818E-4954-A82C-21DE6168C3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145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E4F1-5955-4EC6-8F55-AC9D1ED0A672}" type="datetimeFigureOut">
              <a:rPr lang="es-MX" smtClean="0"/>
              <a:t>15/05/2026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B6835-818E-4954-A82C-21DE6168C3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668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E4F1-5955-4EC6-8F55-AC9D1ED0A672}" type="datetimeFigureOut">
              <a:rPr lang="es-MX" smtClean="0"/>
              <a:t>15/05/2026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B6835-818E-4954-A82C-21DE6168C3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366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E4F1-5955-4EC6-8F55-AC9D1ED0A672}" type="datetimeFigureOut">
              <a:rPr lang="es-MX" smtClean="0"/>
              <a:t>15/05/2026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B6835-818E-4954-A82C-21DE6168C3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646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E4F1-5955-4EC6-8F55-AC9D1ED0A672}" type="datetimeFigureOut">
              <a:rPr lang="es-MX" smtClean="0"/>
              <a:t>15/05/2026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B6835-818E-4954-A82C-21DE6168C3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9637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E4F1-5955-4EC6-8F55-AC9D1ED0A672}" type="datetimeFigureOut">
              <a:rPr lang="es-MX" smtClean="0"/>
              <a:t>15/05/2026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B6835-818E-4954-A82C-21DE6168C3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118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E4F1-5955-4EC6-8F55-AC9D1ED0A672}" type="datetimeFigureOut">
              <a:rPr lang="es-MX" smtClean="0"/>
              <a:t>15/05/2026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B6835-818E-4954-A82C-21DE6168C3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60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E4F1-5955-4EC6-8F55-AC9D1ED0A672}" type="datetimeFigureOut">
              <a:rPr lang="es-MX" smtClean="0"/>
              <a:t>15/05/2026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B6835-818E-4954-A82C-21DE6168C3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967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AE4F1-5955-4EC6-8F55-AC9D1ED0A672}" type="datetimeFigureOut">
              <a:rPr lang="es-MX" smtClean="0"/>
              <a:t>15/05/2026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B6835-818E-4954-A82C-21DE6168C3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6731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francisco.garcia@udlap.mx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820E1499-45BF-8F30-969E-E3572B704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0743" y="5560007"/>
            <a:ext cx="695483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algn="r" eaLnBrk="1" hangingPunct="1"/>
            <a:r>
              <a:rPr lang="es-ES" b="0" i="1" u="none" kern="0" baseline="0" dirty="0"/>
              <a:t>Dr. Francisco García Castillo</a:t>
            </a:r>
            <a:br>
              <a:rPr lang="es-ES" b="0" i="1" u="none" kern="0" baseline="0" dirty="0"/>
            </a:br>
            <a:r>
              <a:rPr lang="es-ES" b="0" i="1" u="none" kern="0" baseline="0" dirty="0"/>
              <a:t>Primavera 2026</a:t>
            </a: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C67419DD-BD70-5F82-1ABA-F3953DE369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201" y="4841718"/>
            <a:ext cx="8424000" cy="31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/>
            <a:endParaRPr lang="es-MX" dirty="0">
              <a:latin typeface="+mj-lt"/>
            </a:endParaRP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9C5BBC9A-EF46-A8C4-6C43-A6F866961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04" y="3940631"/>
            <a:ext cx="8131175" cy="85921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l"/>
            <a:r>
              <a:rPr lang="es-MX" sz="2000" u="none" baseline="0" dirty="0">
                <a:solidFill>
                  <a:schemeClr val="tx2"/>
                </a:solidFill>
                <a:latin typeface="+mj-lt"/>
              </a:rPr>
              <a:t>TEMAS SELECTOS III</a:t>
            </a:r>
          </a:p>
          <a:p>
            <a:pPr algn="l"/>
            <a:r>
              <a:rPr lang="es-ES" sz="2000" b="0" i="1" u="none" baseline="0" dirty="0">
                <a:solidFill>
                  <a:schemeClr val="tx2"/>
                </a:solidFill>
              </a:rPr>
              <a:t>Derivados exóticos en riesgo de crédito</a:t>
            </a:r>
            <a:endParaRPr lang="es-ES" sz="1200" b="0" i="1" u="none" baseline="0" dirty="0">
              <a:solidFill>
                <a:schemeClr val="tx2"/>
              </a:solidFill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479B6544-317B-2D4E-3F93-04B389AC3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01" y="5028802"/>
            <a:ext cx="8131175" cy="397545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l"/>
            <a:r>
              <a:rPr lang="en-US" sz="2000" u="none" baseline="0" dirty="0" err="1">
                <a:solidFill>
                  <a:schemeClr val="tx2"/>
                </a:solidFill>
                <a:latin typeface="+mj-lt"/>
              </a:rPr>
              <a:t>Tarea</a:t>
            </a:r>
            <a:r>
              <a:rPr lang="en-US" sz="2000" u="none" baseline="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sz="2000" u="none" baseline="0" dirty="0" err="1">
                <a:solidFill>
                  <a:schemeClr val="tx2"/>
                </a:solidFill>
                <a:latin typeface="+mj-lt"/>
              </a:rPr>
              <a:t>larga</a:t>
            </a:r>
            <a:r>
              <a:rPr lang="en-US" sz="2000" u="none" baseline="0" dirty="0">
                <a:solidFill>
                  <a:schemeClr val="tx2"/>
                </a:solidFill>
                <a:latin typeface="+mj-lt"/>
              </a:rPr>
              <a:t> 3</a:t>
            </a:r>
            <a:endParaRPr lang="es-ES" sz="1200" b="0" i="1" u="none" baseline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333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8256D3-8078-2278-E3A6-DE107E3FE7CA}"/>
              </a:ext>
            </a:extLst>
          </p:cNvPr>
          <p:cNvSpPr txBox="1"/>
          <p:nvPr/>
        </p:nvSpPr>
        <p:spPr>
          <a:xfrm>
            <a:off x="264160" y="1493520"/>
            <a:ext cx="8585200" cy="4652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La Tarea Larga 3 consiste en evaluar las competencias sobre derivados de crédito; así como la administración del riesgo crediticio en un portafolio de créditos.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El libro de consulta es </a:t>
            </a:r>
            <a:r>
              <a:rPr lang="es-MX" i="1" dirty="0" err="1">
                <a:latin typeface="Verdana" panose="020B0604030504040204" pitchFamily="34" charset="0"/>
                <a:ea typeface="Verdana" panose="020B0604030504040204" pitchFamily="34" charset="0"/>
              </a:rPr>
              <a:t>Options</a:t>
            </a:r>
            <a:r>
              <a:rPr lang="es-MX" i="1" dirty="0">
                <a:latin typeface="Verdana" panose="020B0604030504040204" pitchFamily="34" charset="0"/>
                <a:ea typeface="Verdana" panose="020B0604030504040204" pitchFamily="34" charset="0"/>
              </a:rPr>
              <a:t>, futures and </a:t>
            </a:r>
            <a:r>
              <a:rPr lang="es-MX" i="1" dirty="0" err="1">
                <a:latin typeface="Verdana" panose="020B0604030504040204" pitchFamily="34" charset="0"/>
                <a:ea typeface="Verdana" panose="020B0604030504040204" pitchFamily="34" charset="0"/>
              </a:rPr>
              <a:t>other</a:t>
            </a:r>
            <a:r>
              <a:rPr lang="es-MX" i="1" dirty="0">
                <a:latin typeface="Verdana" panose="020B0604030504040204" pitchFamily="34" charset="0"/>
                <a:ea typeface="Verdana" panose="020B0604030504040204" pitchFamily="34" charset="0"/>
              </a:rPr>
              <a:t> derivatives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 de </a:t>
            </a:r>
            <a:r>
              <a:rPr lang="es-MX" dirty="0" err="1">
                <a:latin typeface="Verdana" panose="020B0604030504040204" pitchFamily="34" charset="0"/>
                <a:ea typeface="Verdana" panose="020B0604030504040204" pitchFamily="34" charset="0"/>
              </a:rPr>
              <a:t>Jonh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 C. Hull.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Esta tarea se entrega por equipos a 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francisco.garcia@udlap.mx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 el día del examen final establecido por servicios escolares. Ese día será el </a:t>
            </a:r>
            <a:r>
              <a:rPr lang="es-MX" i="1" dirty="0" err="1">
                <a:latin typeface="Verdana" panose="020B0604030504040204" pitchFamily="34" charset="0"/>
                <a:ea typeface="Verdana" panose="020B0604030504040204" pitchFamily="34" charset="0"/>
              </a:rPr>
              <a:t>talent</a:t>
            </a:r>
            <a:r>
              <a:rPr lang="es-MX" i="1" dirty="0">
                <a:latin typeface="Verdana" panose="020B0604030504040204" pitchFamily="34" charset="0"/>
                <a:ea typeface="Verdana" panose="020B0604030504040204" pitchFamily="34" charset="0"/>
              </a:rPr>
              <a:t> show 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a la hora establecida para el examen.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Se debe adjuntar su programa o archivo de trabajo. La ortografía y redacción se considera. La copia se evalúa con cero.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0273BD0-C663-CA7A-8CDE-FCF0AA252EAF}"/>
              </a:ext>
            </a:extLst>
          </p:cNvPr>
          <p:cNvCxnSpPr/>
          <p:nvPr/>
        </p:nvCxnSpPr>
        <p:spPr>
          <a:xfrm>
            <a:off x="263236" y="668707"/>
            <a:ext cx="863138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ángulo 4">
            <a:extLst>
              <a:ext uri="{FF2B5EF4-FFF2-40B4-BE49-F238E27FC236}">
                <a16:creationId xmlns:a16="http://schemas.microsoft.com/office/drawing/2014/main" id="{0350647F-BB40-BF6A-9668-CB697A444A22}"/>
              </a:ext>
            </a:extLst>
          </p:cNvPr>
          <p:cNvSpPr/>
          <p:nvPr/>
        </p:nvSpPr>
        <p:spPr>
          <a:xfrm>
            <a:off x="256315" y="119361"/>
            <a:ext cx="864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i="1" dirty="0">
                <a:solidFill>
                  <a:srgbClr val="1E3960"/>
                </a:solidFill>
              </a:rPr>
              <a:t>Tarea Larga 3: Temas 3 Derivados exóticos</a:t>
            </a:r>
          </a:p>
        </p:txBody>
      </p:sp>
      <p:cxnSp>
        <p:nvCxnSpPr>
          <p:cNvPr id="9" name="Conector recto 2">
            <a:extLst>
              <a:ext uri="{FF2B5EF4-FFF2-40B4-BE49-F238E27FC236}">
                <a16:creationId xmlns:a16="http://schemas.microsoft.com/office/drawing/2014/main" id="{F0A735CF-F146-E020-82B2-87D4C962C64B}"/>
              </a:ext>
            </a:extLst>
          </p:cNvPr>
          <p:cNvCxnSpPr/>
          <p:nvPr/>
        </p:nvCxnSpPr>
        <p:spPr>
          <a:xfrm>
            <a:off x="263236" y="6541187"/>
            <a:ext cx="863138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671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8256D3-8078-2278-E3A6-DE107E3FE7CA}"/>
                  </a:ext>
                </a:extLst>
              </p:cNvPr>
              <p:cNvSpPr txBox="1"/>
              <p:nvPr/>
            </p:nvSpPr>
            <p:spPr>
              <a:xfrm>
                <a:off x="264160" y="1493520"/>
                <a:ext cx="8585200" cy="4652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00050" indent="-40005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romanUcPeriod"/>
                </a:pPr>
                <a:r>
                  <a:rPr lang="es-MX" dirty="0">
                    <a:latin typeface="Verdana" panose="020B0604030504040204" pitchFamily="34" charset="0"/>
                    <a:ea typeface="Verdana" panose="020B0604030504040204" pitchFamily="34" charset="0"/>
                  </a:rPr>
                  <a:t>Hacer 5 ejercicios del capítulo </a:t>
                </a:r>
                <a:r>
                  <a:rPr lang="es-MX" i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25. </a:t>
                </a:r>
                <a:r>
                  <a:rPr lang="es-MX" i="1" dirty="0" err="1">
                    <a:latin typeface="Verdana" panose="020B0604030504040204" pitchFamily="34" charset="0"/>
                    <a:ea typeface="Verdana" panose="020B0604030504040204" pitchFamily="34" charset="0"/>
                  </a:rPr>
                  <a:t>Credit</a:t>
                </a:r>
                <a:r>
                  <a:rPr lang="es-MX" i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 Derivatives</a:t>
                </a:r>
                <a:r>
                  <a:rPr lang="es-MX" dirty="0">
                    <a:latin typeface="Verdana" panose="020B0604030504040204" pitchFamily="34" charset="0"/>
                    <a:ea typeface="Verdana" panose="020B0604030504040204" pitchFamily="34" charset="0"/>
                  </a:rPr>
                  <a:t> del libro de referencia.</a:t>
                </a:r>
              </a:p>
              <a:p>
                <a:pPr marL="400050" indent="-40005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romanUcPeriod"/>
                </a:pPr>
                <a:r>
                  <a:rPr lang="es-MX" dirty="0">
                    <a:latin typeface="Verdana" panose="020B0604030504040204" pitchFamily="34" charset="0"/>
                    <a:ea typeface="Verdana" panose="020B0604030504040204" pitchFamily="34" charset="0"/>
                  </a:rPr>
                  <a:t>Utilizando cualquiera de los dos archivos adjuntos que tienen información de cartera crediticia, construya la distribución de pérdidas para dos tipos de cartera (distintas). Utilice todos los supuestos del laboratorio y hacer al menos 10,000 simulaciones.</a:t>
                </a:r>
              </a:p>
              <a:p>
                <a:pPr marL="400050" indent="-40005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romanUcPeriod"/>
                </a:pPr>
                <a:r>
                  <a:rPr lang="es-MX" dirty="0">
                    <a:latin typeface="Verdana" panose="020B0604030504040204" pitchFamily="34" charset="0"/>
                    <a:ea typeface="Verdana" panose="020B0604030504040204" pitchFamily="34" charset="0"/>
                  </a:rPr>
                  <a:t>Tomando como referencia el laboratorio para la valuación de los CDO, hacer la valuación del 5to </a:t>
                </a:r>
                <a:r>
                  <a:rPr lang="es-MX" dirty="0" err="1">
                    <a:latin typeface="Verdana" panose="020B0604030504040204" pitchFamily="34" charset="0"/>
                    <a:ea typeface="Verdana" panose="020B0604030504040204" pitchFamily="34" charset="0"/>
                  </a:rPr>
                  <a:t>tranche</a:t>
                </a:r>
                <a:r>
                  <a:rPr lang="es-MX" dirty="0">
                    <a:latin typeface="Verdana" panose="020B0604030504040204" pitchFamily="34" charset="0"/>
                    <a:ea typeface="Verdana" panose="020B0604030504040204" pitchFamily="34" charset="0"/>
                  </a:rPr>
                  <a:t> (12-22%); utilice todos los supuestos del laboratorio, pero considerando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=100</m:t>
                    </m:r>
                  </m:oMath>
                </a14:m>
                <a:r>
                  <a:rPr lang="es-MX" dirty="0"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s-MX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8256D3-8078-2278-E3A6-DE107E3FE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1493520"/>
                <a:ext cx="8585200" cy="4652940"/>
              </a:xfrm>
              <a:prstGeom prst="rect">
                <a:avLst/>
              </a:prstGeom>
              <a:blipFill>
                <a:blip r:embed="rId2"/>
                <a:stretch>
                  <a:fillRect l="-568" r="-56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0273BD0-C663-CA7A-8CDE-FCF0AA252EAF}"/>
              </a:ext>
            </a:extLst>
          </p:cNvPr>
          <p:cNvCxnSpPr/>
          <p:nvPr/>
        </p:nvCxnSpPr>
        <p:spPr>
          <a:xfrm>
            <a:off x="263236" y="668707"/>
            <a:ext cx="8631382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ángulo 4">
            <a:extLst>
              <a:ext uri="{FF2B5EF4-FFF2-40B4-BE49-F238E27FC236}">
                <a16:creationId xmlns:a16="http://schemas.microsoft.com/office/drawing/2014/main" id="{0350647F-BB40-BF6A-9668-CB697A444A22}"/>
              </a:ext>
            </a:extLst>
          </p:cNvPr>
          <p:cNvSpPr/>
          <p:nvPr/>
        </p:nvSpPr>
        <p:spPr>
          <a:xfrm>
            <a:off x="256315" y="119361"/>
            <a:ext cx="864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i="1" dirty="0">
                <a:solidFill>
                  <a:srgbClr val="1E3960"/>
                </a:solidFill>
              </a:rPr>
              <a:t>Tarea Larga 3: Temas 3 Derivados exóticos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A678192-2A94-0667-B5D9-B1BAFCF774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741584"/>
              </p:ext>
            </p:extLst>
          </p:nvPr>
        </p:nvGraphicFramePr>
        <p:xfrm>
          <a:off x="2377440" y="5866765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92417" progId="Excel.Sheet.12">
                  <p:embed/>
                </p:oleObj>
              </mc:Choice>
              <mc:Fallback>
                <p:oleObj name="Worksheet" showAsIcon="1" r:id="rId3" imgW="914400" imgH="792417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FA678192-2A94-0667-B5D9-B1BAFCF774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77440" y="5866765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19EE3AB-1FE5-7AAF-A1CF-40C2EB3E53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00980"/>
              </p:ext>
            </p:extLst>
          </p:nvPr>
        </p:nvGraphicFramePr>
        <p:xfrm>
          <a:off x="5537200" y="5861685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400" imgH="792417" progId="Excel.Sheet.12">
                  <p:embed/>
                </p:oleObj>
              </mc:Choice>
              <mc:Fallback>
                <p:oleObj name="Worksheet" showAsIcon="1" r:id="rId5" imgW="914400" imgH="792417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719EE3AB-1FE5-7AAF-A1CF-40C2EB3E53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37200" y="5861685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2843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8256D3-8078-2278-E3A6-DE107E3FE7CA}"/>
              </a:ext>
            </a:extLst>
          </p:cNvPr>
          <p:cNvSpPr txBox="1"/>
          <p:nvPr/>
        </p:nvSpPr>
        <p:spPr>
          <a:xfrm>
            <a:off x="264160" y="1493520"/>
            <a:ext cx="8585200" cy="4391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 startAt="4"/>
            </a:pPr>
            <a:r>
              <a:rPr lang="es-MX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Investigue una estrategia de bursatilización de activos (ABS) previa a la crisis financiera del año 2007 por parte de algún banco o intermediario financiero (por ejemplo, de Lehman, Bear Stern, AIG, etc.),</a:t>
            </a:r>
          </a:p>
          <a:p>
            <a:pPr marL="857250" lvl="1" indent="-400050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LcPeriod"/>
            </a:pPr>
            <a:r>
              <a:rPr lang="es-MX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Describa ampliamente su estrategia.</a:t>
            </a:r>
          </a:p>
          <a:p>
            <a:pPr marL="857250" lvl="1" indent="-400050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LcPeriod"/>
            </a:pPr>
            <a:r>
              <a:rPr lang="es-MX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Comente los resultados obtenidos.</a:t>
            </a:r>
          </a:p>
          <a:p>
            <a:pPr lvl="1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Deben explicarlo pensando en una audiencia no versada; es decir, debe ser una exposición clara.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s-MX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0273BD0-C663-CA7A-8CDE-FCF0AA252EAF}"/>
              </a:ext>
            </a:extLst>
          </p:cNvPr>
          <p:cNvCxnSpPr/>
          <p:nvPr/>
        </p:nvCxnSpPr>
        <p:spPr>
          <a:xfrm>
            <a:off x="263236" y="668707"/>
            <a:ext cx="8631382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ángulo 4">
            <a:extLst>
              <a:ext uri="{FF2B5EF4-FFF2-40B4-BE49-F238E27FC236}">
                <a16:creationId xmlns:a16="http://schemas.microsoft.com/office/drawing/2014/main" id="{0350647F-BB40-BF6A-9668-CB697A444A22}"/>
              </a:ext>
            </a:extLst>
          </p:cNvPr>
          <p:cNvSpPr/>
          <p:nvPr/>
        </p:nvSpPr>
        <p:spPr>
          <a:xfrm>
            <a:off x="256315" y="119361"/>
            <a:ext cx="864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i="1" dirty="0">
                <a:solidFill>
                  <a:srgbClr val="1E3960"/>
                </a:solidFill>
              </a:rPr>
              <a:t>Tarea Larga 3: Temas 3 Derivados exóticos</a:t>
            </a:r>
          </a:p>
        </p:txBody>
      </p:sp>
    </p:spTree>
    <p:extLst>
      <p:ext uri="{BB962C8B-B14F-4D97-AF65-F5344CB8AC3E}">
        <p14:creationId xmlns:p14="http://schemas.microsoft.com/office/powerpoint/2010/main" val="478271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8256D3-8078-2278-E3A6-DE107E3FE7CA}"/>
              </a:ext>
            </a:extLst>
          </p:cNvPr>
          <p:cNvSpPr txBox="1"/>
          <p:nvPr/>
        </p:nvSpPr>
        <p:spPr>
          <a:xfrm>
            <a:off x="264160" y="1493520"/>
            <a:ext cx="8585200" cy="3714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 startAt="5"/>
              <a:defRPr/>
            </a:pPr>
            <a:r>
              <a:rPr lang="es-MX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 </a:t>
            </a:r>
            <a:r>
              <a:rPr lang="es-MX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documento </a:t>
            </a:r>
            <a:r>
              <a:rPr lang="en-US" i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Valuation of Credit Default Swap Options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por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John Hull and Alan White de 2003,</a:t>
            </a:r>
            <a:r>
              <a:rPr lang="es-MX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describa las fórmulas siguientes:</a:t>
            </a:r>
          </a:p>
          <a:p>
            <a:pPr marL="971550" lvl="1" indent="-514350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LcPeriod"/>
            </a:pPr>
            <a:r>
              <a:rPr lang="es-MX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Valuación de un CDS</a:t>
            </a:r>
          </a:p>
          <a:p>
            <a:pPr marL="971550" lvl="1" indent="-514350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LcPeriod"/>
            </a:pPr>
            <a:r>
              <a:rPr lang="es-MX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Valuación de un Forward CDS</a:t>
            </a:r>
          </a:p>
          <a:p>
            <a:pPr marL="971550" lvl="1" indent="-514350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LcPeriod"/>
            </a:pPr>
            <a:r>
              <a:rPr lang="es-MX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Valuación de una opción de CDS</a:t>
            </a:r>
          </a:p>
          <a:p>
            <a:pPr marL="971550" lvl="1" indent="-514350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LcPeriod"/>
            </a:pPr>
            <a:r>
              <a:rPr lang="es-MX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Extensiones a las opciones de CDS.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s-MX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0273BD0-C663-CA7A-8CDE-FCF0AA252EAF}"/>
              </a:ext>
            </a:extLst>
          </p:cNvPr>
          <p:cNvCxnSpPr/>
          <p:nvPr/>
        </p:nvCxnSpPr>
        <p:spPr>
          <a:xfrm>
            <a:off x="263236" y="668707"/>
            <a:ext cx="8631382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ángulo 4">
            <a:extLst>
              <a:ext uri="{FF2B5EF4-FFF2-40B4-BE49-F238E27FC236}">
                <a16:creationId xmlns:a16="http://schemas.microsoft.com/office/drawing/2014/main" id="{0350647F-BB40-BF6A-9668-CB697A444A22}"/>
              </a:ext>
            </a:extLst>
          </p:cNvPr>
          <p:cNvSpPr/>
          <p:nvPr/>
        </p:nvSpPr>
        <p:spPr>
          <a:xfrm>
            <a:off x="256315" y="119361"/>
            <a:ext cx="864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i="1" dirty="0">
                <a:solidFill>
                  <a:srgbClr val="1E3960"/>
                </a:solidFill>
              </a:rPr>
              <a:t>Tarea Larga 3: Temas 3 Derivados exóticos</a:t>
            </a:r>
          </a:p>
        </p:txBody>
      </p:sp>
      <p:graphicFrame>
        <p:nvGraphicFramePr>
          <p:cNvPr id="4" name="Objeto 1">
            <a:extLst>
              <a:ext uri="{FF2B5EF4-FFF2-40B4-BE49-F238E27FC236}">
                <a16:creationId xmlns:a16="http://schemas.microsoft.com/office/drawing/2014/main" id="{497B236B-BEBC-EE2A-F2EC-A630BB9E60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074697"/>
              </p:ext>
            </p:extLst>
          </p:nvPr>
        </p:nvGraphicFramePr>
        <p:xfrm>
          <a:off x="6309880" y="376131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2" imgW="914400" imgH="771480" progId="Acrobat.Document.DC">
                  <p:embed/>
                </p:oleObj>
              </mc:Choice>
              <mc:Fallback>
                <p:oleObj name="Acrobat Document" showAsIcon="1" r:id="rId2" imgW="914400" imgH="771480" progId="Acrobat.Document.DC">
                  <p:embed/>
                  <p:pic>
                    <p:nvPicPr>
                      <p:cNvPr id="4" name="Objeto 1">
                        <a:extLst>
                          <a:ext uri="{FF2B5EF4-FFF2-40B4-BE49-F238E27FC236}">
                            <a16:creationId xmlns:a16="http://schemas.microsoft.com/office/drawing/2014/main" id="{497B236B-BEBC-EE2A-F2EC-A630BB9E60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09880" y="376131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2369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820E1499-45BF-8F30-969E-E3572B704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0743" y="5560007"/>
            <a:ext cx="695483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algn="r" eaLnBrk="1" hangingPunct="1"/>
            <a:r>
              <a:rPr lang="es-ES" b="0" i="1" u="none" kern="0" baseline="0" dirty="0"/>
              <a:t>Dr. Francisco García Castillo</a:t>
            </a:r>
            <a:br>
              <a:rPr lang="es-ES" b="0" i="1" u="none" kern="0" baseline="0" dirty="0"/>
            </a:br>
            <a:r>
              <a:rPr lang="es-ES" b="0" i="1" u="none" kern="0" baseline="0" dirty="0"/>
              <a:t>Primavera 2026</a:t>
            </a: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C67419DD-BD70-5F82-1ABA-F3953DE369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201" y="4841718"/>
            <a:ext cx="8424000" cy="31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/>
            <a:endParaRPr lang="es-MX" dirty="0">
              <a:latin typeface="+mj-lt"/>
            </a:endParaRP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9C5BBC9A-EF46-A8C4-6C43-A6F866961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04" y="3940631"/>
            <a:ext cx="8131175" cy="85921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l"/>
            <a:r>
              <a:rPr lang="es-MX" sz="2000" u="none" baseline="0" dirty="0">
                <a:solidFill>
                  <a:schemeClr val="tx2"/>
                </a:solidFill>
                <a:latin typeface="+mj-lt"/>
              </a:rPr>
              <a:t>TEMAS SELECTOS III</a:t>
            </a:r>
          </a:p>
          <a:p>
            <a:pPr algn="l"/>
            <a:r>
              <a:rPr lang="es-ES" sz="2000" b="0" i="1" u="none" baseline="0" dirty="0">
                <a:solidFill>
                  <a:schemeClr val="tx2"/>
                </a:solidFill>
              </a:rPr>
              <a:t>Derivados exóticos en riesgo de crédito</a:t>
            </a:r>
            <a:endParaRPr lang="es-ES" sz="1200" b="0" i="1" u="none" baseline="0" dirty="0">
              <a:solidFill>
                <a:schemeClr val="tx2"/>
              </a:solidFill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479B6544-317B-2D4E-3F93-04B389AC3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01" y="5028802"/>
            <a:ext cx="8131175" cy="397545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l"/>
            <a:r>
              <a:rPr lang="en-US" sz="2000" u="none" baseline="0" dirty="0" err="1">
                <a:solidFill>
                  <a:schemeClr val="tx2"/>
                </a:solidFill>
                <a:latin typeface="+mj-lt"/>
              </a:rPr>
              <a:t>Tarea</a:t>
            </a:r>
            <a:r>
              <a:rPr lang="en-US" sz="2000" u="none" baseline="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sz="2000" u="none" baseline="0" dirty="0" err="1">
                <a:solidFill>
                  <a:schemeClr val="tx2"/>
                </a:solidFill>
                <a:latin typeface="+mj-lt"/>
              </a:rPr>
              <a:t>larga</a:t>
            </a:r>
            <a:r>
              <a:rPr lang="en-US" sz="2000" u="none" baseline="0" dirty="0">
                <a:solidFill>
                  <a:schemeClr val="tx2"/>
                </a:solidFill>
                <a:latin typeface="+mj-lt"/>
              </a:rPr>
              <a:t> 3</a:t>
            </a:r>
            <a:endParaRPr lang="es-ES" sz="1200" b="0" i="1" u="none" baseline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761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835865EB09FA4F8AF0823547988769" ma:contentTypeVersion="7" ma:contentTypeDescription="Create a new document." ma:contentTypeScope="" ma:versionID="b455476372fc0feba34fd63338cfd5f3">
  <xsd:schema xmlns:xsd="http://www.w3.org/2001/XMLSchema" xmlns:xs="http://www.w3.org/2001/XMLSchema" xmlns:p="http://schemas.microsoft.com/office/2006/metadata/properties" xmlns:ns2="9d63bd8f-f4f2-45db-b534-f5f5cad13c33" targetNamespace="http://schemas.microsoft.com/office/2006/metadata/properties" ma:root="true" ma:fieldsID="128069d3d5d132ef31f9a686a825dab1" ns2:_="">
    <xsd:import namespace="9d63bd8f-f4f2-45db-b534-f5f5cad13c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63bd8f-f4f2-45db-b534-f5f5cad13c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47B757-BAAC-4E02-AB6E-9B08B73E82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915B78-2E52-4A69-8FD8-850E7D44E51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D644D08-185B-4171-BB95-8D867866B6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63bd8f-f4f2-45db-b534-f5f5cad13c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380</Words>
  <Application>Microsoft Office PowerPoint</Application>
  <PresentationFormat>Presentación en pantalla 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Francisco Garcia Castillo</dc:creator>
  <cp:lastModifiedBy>Francisco Garcia Castillo</cp:lastModifiedBy>
  <cp:revision>6</cp:revision>
  <dcterms:created xsi:type="dcterms:W3CDTF">2024-04-27T17:34:54Z</dcterms:created>
  <dcterms:modified xsi:type="dcterms:W3CDTF">2026-05-15T22:55:03Z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0x01010092835865EB09FA4F8AF0823547988769</vt:lpwstr>
  </property>
</Properties>
</file>